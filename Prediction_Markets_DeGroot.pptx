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65" r:id="rId6"/>
    <p:sldId id="267" r:id="rId7"/>
    <p:sldId id="266" r:id="rId8"/>
    <p:sldId id="264" r:id="rId9"/>
    <p:sldId id="262" r:id="rId10"/>
    <p:sldId id="268" r:id="rId11"/>
    <p:sldId id="269" r:id="rId12"/>
    <p:sldId id="270" r:id="rId13"/>
    <p:sldId id="259" r:id="rId14"/>
    <p:sldId id="260" r:id="rId15"/>
    <p:sldId id="26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77"/>
    <p:restoredTop sz="94658"/>
  </p:normalViewPr>
  <p:slideViewPr>
    <p:cSldViewPr snapToGrid="0" snapToObjects="1">
      <p:cViewPr varScale="1">
        <p:scale>
          <a:sx n="103" d="100"/>
          <a:sy n="103" d="100"/>
        </p:scale>
        <p:origin x="200" y="5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Prediction Markets as DeGroot 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B4D8"/>
                </a:solidFill>
                <a:latin typeface="Calibri"/>
              </a:defRPr>
            </a:pPr>
            <a:r>
              <a:t>with Time-Varying Communication Topology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023360"/>
            <a:ext cx="2286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43891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Matteo Perona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90A4BF"/>
                </a:solidFill>
                <a:latin typeface="Calibri"/>
              </a:rPr>
              <a:t>Guest Lecture  ·  Random Signal Processing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Prediction Markets?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120640" cy="5029200"/>
          </a:xfrm>
          <a:prstGeom prst="rect">
            <a:avLst/>
          </a:prstGeom>
          <a:solidFill>
            <a:srgbClr val="1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54864" cy="5029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463040"/>
            <a:ext cx="4572000" cy="4426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dirty="0">
                <a:solidFill>
                  <a:srgbClr val="00B4D8"/>
                </a:solidFill>
                <a:latin typeface="Calibri"/>
              </a:rPr>
              <a:t>The Core Question</a:t>
            </a:r>
          </a:p>
          <a:p>
            <a:pPr algn="l">
              <a:spcAft>
                <a:spcPts val="400"/>
              </a:spcAft>
            </a:pPr>
            <a:r>
              <a:rPr sz="1500" b="0" dirty="0">
                <a:solidFill>
                  <a:srgbClr val="CADCFC"/>
                </a:solidFill>
                <a:latin typeface="Calibri"/>
              </a:rPr>
              <a:t>How do decentralized agents, each with partial and noisy information, aggregate knowledge into a single price that converges to truth?</a:t>
            </a:r>
          </a:p>
          <a:p>
            <a:pPr algn="l">
              <a:spcAft>
                <a:spcPts val="400"/>
              </a:spcAft>
            </a:pPr>
            <a:endParaRPr sz="1500" b="0" dirty="0">
              <a:solidFill>
                <a:srgbClr val="CADCFC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2000" b="1" dirty="0">
                <a:solidFill>
                  <a:srgbClr val="00B4D8"/>
                </a:solidFill>
                <a:latin typeface="Calibri"/>
              </a:rPr>
              <a:t>Key Insight</a:t>
            </a:r>
          </a:p>
          <a:p>
            <a:pPr algn="l">
              <a:spcAft>
                <a:spcPts val="400"/>
              </a:spcAft>
            </a:pPr>
            <a:r>
              <a:rPr sz="1500" b="0" dirty="0">
                <a:solidFill>
                  <a:srgbClr val="CADCFC"/>
                </a:solidFill>
                <a:latin typeface="Calibri"/>
              </a:rPr>
              <a:t>A prediction market is an implicit DeGroot consensus process. Traders never talk directly</a:t>
            </a:r>
            <a:r>
              <a:rPr lang="en-US" sz="1500" b="0" dirty="0">
                <a:solidFill>
                  <a:srgbClr val="CADCFC"/>
                </a:solidFill>
                <a:latin typeface="Calibri"/>
              </a:rPr>
              <a:t>,</a:t>
            </a:r>
            <a:r>
              <a:rPr sz="1500" b="0" dirty="0">
                <a:solidFill>
                  <a:srgbClr val="CADCFC"/>
                </a:solidFill>
                <a:latin typeface="Calibri"/>
              </a:rPr>
              <a:t> the market price encodes past beliefs, creating peer influence through the price channel.</a:t>
            </a:r>
          </a:p>
          <a:p>
            <a:pPr algn="l">
              <a:spcAft>
                <a:spcPts val="400"/>
              </a:spcAft>
            </a:pPr>
            <a:endParaRPr sz="1500" b="0" dirty="0">
              <a:solidFill>
                <a:srgbClr val="CADCFC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2000" b="1" dirty="0">
                <a:solidFill>
                  <a:srgbClr val="00B4D8"/>
                </a:solidFill>
                <a:latin typeface="Calibri"/>
              </a:rPr>
              <a:t>Signal Processing Angle</a:t>
            </a:r>
          </a:p>
          <a:p>
            <a:pPr algn="l">
              <a:spcAft>
                <a:spcPts val="400"/>
              </a:spcAft>
            </a:pPr>
            <a:r>
              <a:rPr sz="1500" b="0" dirty="0">
                <a:solidFill>
                  <a:srgbClr val="CADCFC"/>
                </a:solidFill>
                <a:latin typeface="Calibri"/>
              </a:rPr>
              <a:t>Noisy signals → belief updates → price dynamics.</a:t>
            </a:r>
          </a:p>
          <a:p>
            <a:pPr algn="l">
              <a:spcAft>
                <a:spcPts val="400"/>
              </a:spcAft>
            </a:pPr>
            <a:r>
              <a:rPr sz="1500" b="0" dirty="0">
                <a:solidFill>
                  <a:srgbClr val="CADCFC"/>
                </a:solidFill>
                <a:latin typeface="Calibri"/>
              </a:rPr>
              <a:t>The market acts as a nonlinear filter fusing correlated, biased random signals into an estimate of a hidden binary state </a:t>
            </a:r>
            <a:r>
              <a:rPr sz="1500" b="0" dirty="0" err="1">
                <a:solidFill>
                  <a:srgbClr val="CADCFC"/>
                </a:solidFill>
                <a:latin typeface="Calibri"/>
              </a:rPr>
              <a:t>θ</a:t>
            </a:r>
            <a:r>
              <a:rPr sz="1500" b="0" dirty="0">
                <a:solidFill>
                  <a:srgbClr val="CADCFC"/>
                </a:solidFill>
                <a:latin typeface="Calibri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280160"/>
            <a:ext cx="5120640" cy="5029200"/>
          </a:xfrm>
          <a:prstGeom prst="rect">
            <a:avLst/>
          </a:prstGeom>
          <a:solidFill>
            <a:srgbClr val="1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1280160"/>
            <a:ext cx="54864" cy="5029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0" y="146304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 dirty="0">
                <a:solidFill>
                  <a:srgbClr val="00E696"/>
                </a:solidFill>
                <a:latin typeface="Calibri"/>
              </a:rPr>
              <a:t>Model Setup</a:t>
            </a:r>
          </a:p>
          <a:p>
            <a:pPr algn="l">
              <a:spcAft>
                <a:spcPts val="300"/>
              </a:spcAft>
            </a:pPr>
            <a:endParaRPr sz="2000" b="1" dirty="0">
              <a:solidFill>
                <a:srgbClr val="00E696"/>
              </a:solidFill>
              <a:latin typeface="Calibri"/>
            </a:endParaRPr>
          </a:p>
          <a:p>
            <a:pPr algn="l">
              <a:spcAft>
                <a:spcPts val="300"/>
              </a:spcAft>
            </a:pPr>
            <a:r>
              <a:rPr sz="1500" b="0" dirty="0" err="1">
                <a:solidFill>
                  <a:srgbClr val="CADCFC"/>
                </a:solidFill>
                <a:latin typeface="Calibri"/>
              </a:rPr>
              <a:t>θ</a:t>
            </a:r>
            <a:r>
              <a:rPr sz="1500" b="0" dirty="0">
                <a:solidFill>
                  <a:srgbClr val="CADCFC"/>
                </a:solidFill>
                <a:latin typeface="Calibri"/>
              </a:rPr>
              <a:t> ∈ {0, 1}  —  binary ground truth</a:t>
            </a:r>
          </a:p>
          <a:p>
            <a:pPr algn="l">
              <a:spcAft>
                <a:spcPts val="300"/>
              </a:spcAft>
            </a:pPr>
            <a:r>
              <a:rPr sz="1500" b="0" dirty="0">
                <a:solidFill>
                  <a:srgbClr val="CADCFC"/>
                </a:solidFill>
                <a:latin typeface="Calibri"/>
              </a:rPr>
              <a:t>K = 4 information sources with bias </a:t>
            </a:r>
            <a:r>
              <a:rPr sz="1500" b="0" dirty="0" err="1">
                <a:solidFill>
                  <a:srgbClr val="CADCFC"/>
                </a:solidFill>
                <a:latin typeface="Calibri"/>
              </a:rPr>
              <a:t>μ</a:t>
            </a:r>
            <a:r>
              <a:rPr sz="1500" b="0" dirty="0">
                <a:solidFill>
                  <a:srgbClr val="CADCFC"/>
                </a:solidFill>
                <a:latin typeface="Calibri"/>
              </a:rPr>
              <a:t>ⱼ</a:t>
            </a:r>
          </a:p>
          <a:p>
            <a:pPr algn="l">
              <a:spcAft>
                <a:spcPts val="300"/>
              </a:spcAft>
            </a:pPr>
            <a:r>
              <a:rPr sz="1500" b="0" dirty="0">
                <a:solidFill>
                  <a:srgbClr val="CADCFC"/>
                </a:solidFill>
                <a:latin typeface="Calibri"/>
              </a:rPr>
              <a:t>N = 6 traders with heterogeneous attention</a:t>
            </a:r>
          </a:p>
          <a:p>
            <a:pPr algn="l">
              <a:spcAft>
                <a:spcPts val="300"/>
              </a:spcAft>
            </a:pPr>
            <a:endParaRPr sz="1500" b="0" dirty="0">
              <a:solidFill>
                <a:srgbClr val="CADCFC"/>
              </a:solidFill>
              <a:latin typeface="Calibri"/>
            </a:endParaRPr>
          </a:p>
          <a:p>
            <a:pPr algn="l">
              <a:spcAft>
                <a:spcPts val="300"/>
              </a:spcAft>
            </a:pPr>
            <a:r>
              <a:rPr sz="1600" b="1" dirty="0">
                <a:solidFill>
                  <a:srgbClr val="FFFFFF"/>
                </a:solidFill>
                <a:latin typeface="Calibri"/>
              </a:rPr>
              <a:t>Each source emits:</a:t>
            </a:r>
          </a:p>
          <a:p>
            <a:pPr algn="l">
              <a:spcAft>
                <a:spcPts val="300"/>
              </a:spcAft>
            </a:pPr>
            <a:r>
              <a:rPr sz="1600" b="0" dirty="0">
                <a:solidFill>
                  <a:srgbClr val="00B4D8"/>
                </a:solidFill>
                <a:latin typeface="Consolas"/>
              </a:rPr>
              <a:t>sⱼ(t) = </a:t>
            </a:r>
            <a:r>
              <a:rPr sz="1600" b="0" dirty="0" err="1">
                <a:solidFill>
                  <a:srgbClr val="00B4D8"/>
                </a:solidFill>
                <a:latin typeface="Consolas"/>
              </a:rPr>
              <a:t>θ</a:t>
            </a:r>
            <a:r>
              <a:rPr sz="1600" b="0" dirty="0">
                <a:solidFill>
                  <a:srgbClr val="00B4D8"/>
                </a:solidFill>
                <a:latin typeface="Consolas"/>
              </a:rPr>
              <a:t> + </a:t>
            </a:r>
            <a:r>
              <a:rPr sz="1600" b="0" dirty="0" err="1">
                <a:solidFill>
                  <a:srgbClr val="00B4D8"/>
                </a:solidFill>
                <a:latin typeface="Consolas"/>
              </a:rPr>
              <a:t>μ</a:t>
            </a:r>
            <a:r>
              <a:rPr sz="1600" b="0" dirty="0">
                <a:solidFill>
                  <a:srgbClr val="00B4D8"/>
                </a:solidFill>
                <a:latin typeface="Consolas"/>
              </a:rPr>
              <a:t>ⱼ + </a:t>
            </a:r>
            <a:r>
              <a:rPr sz="1600" b="0" dirty="0" err="1">
                <a:solidFill>
                  <a:srgbClr val="00B4D8"/>
                </a:solidFill>
                <a:latin typeface="Consolas"/>
              </a:rPr>
              <a:t>ε</a:t>
            </a:r>
            <a:r>
              <a:rPr sz="1600" b="0" dirty="0">
                <a:solidFill>
                  <a:srgbClr val="00B4D8"/>
                </a:solidFill>
                <a:latin typeface="Consolas"/>
              </a:rPr>
              <a:t>ⱼ(t)</a:t>
            </a:r>
          </a:p>
          <a:p>
            <a:pPr algn="l">
              <a:spcAft>
                <a:spcPts val="300"/>
              </a:spcAft>
            </a:pPr>
            <a:r>
              <a:rPr sz="1600" b="0" dirty="0" err="1">
                <a:solidFill>
                  <a:srgbClr val="00B4D8"/>
                </a:solidFill>
                <a:latin typeface="Consolas"/>
              </a:rPr>
              <a:t>ε</a:t>
            </a:r>
            <a:r>
              <a:rPr sz="1600" b="0" dirty="0">
                <a:solidFill>
                  <a:srgbClr val="00B4D8"/>
                </a:solidFill>
                <a:latin typeface="Consolas"/>
              </a:rPr>
              <a:t>ⱼ ~ N(0, σ²)</a:t>
            </a:r>
          </a:p>
          <a:p>
            <a:pPr algn="l">
              <a:spcAft>
                <a:spcPts val="300"/>
              </a:spcAft>
            </a:pPr>
            <a:endParaRPr sz="1600" b="0" dirty="0">
              <a:solidFill>
                <a:srgbClr val="00B4D8"/>
              </a:solidFill>
              <a:latin typeface="Consolas"/>
            </a:endParaRPr>
          </a:p>
          <a:p>
            <a:pPr algn="l">
              <a:spcAft>
                <a:spcPts val="300"/>
              </a:spcAft>
            </a:pPr>
            <a:r>
              <a:rPr sz="1600" b="1" dirty="0">
                <a:solidFill>
                  <a:srgbClr val="FFFFFF"/>
                </a:solidFill>
                <a:latin typeface="Calibri"/>
              </a:rPr>
              <a:t>Three-layer architecture:</a:t>
            </a:r>
          </a:p>
          <a:p>
            <a:pPr algn="l">
              <a:spcAft>
                <a:spcPts val="300"/>
              </a:spcAft>
            </a:pPr>
            <a:r>
              <a:rPr sz="1600" b="0" dirty="0">
                <a:solidFill>
                  <a:srgbClr val="00B4D8"/>
                </a:solidFill>
                <a:latin typeface="Calibri"/>
              </a:rPr>
              <a:t>Sources (B) → Traders (V) ⇄ Market (M)</a:t>
            </a:r>
          </a:p>
          <a:p>
            <a:pPr algn="l">
              <a:spcAft>
                <a:spcPts val="300"/>
              </a:spcAft>
            </a:pPr>
            <a:endParaRPr sz="1600" b="0" dirty="0">
              <a:solidFill>
                <a:srgbClr val="00B4D8"/>
              </a:solidFill>
              <a:latin typeface="Calibri"/>
            </a:endParaRPr>
          </a:p>
          <a:p>
            <a:pPr algn="l">
              <a:spcAft>
                <a:spcPts val="300"/>
              </a:spcAft>
            </a:pPr>
            <a:r>
              <a:rPr sz="1500" b="0" dirty="0">
                <a:solidFill>
                  <a:srgbClr val="CADCFC"/>
                </a:solidFill>
                <a:latin typeface="Calibri"/>
              </a:rPr>
              <a:t>Topology grows over time as traders</a:t>
            </a:r>
          </a:p>
          <a:p>
            <a:pPr algn="l">
              <a:spcAft>
                <a:spcPts val="300"/>
              </a:spcAft>
            </a:pPr>
            <a:r>
              <a:rPr sz="1500" b="0" dirty="0">
                <a:solidFill>
                  <a:srgbClr val="CADCFC"/>
                </a:solidFill>
                <a:latin typeface="Calibri"/>
              </a:rPr>
              <a:t>enter and trade, adding edges to D(t).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Model Formulation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9A980E-FA71-042D-2A94-93F773115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267" y="1541622"/>
            <a:ext cx="6925160" cy="47348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D73624-BA87-3009-438D-8696D5A50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7325DA-172E-4ED9-C103-B379144213E4}"/>
              </a:ext>
            </a:extLst>
          </p:cNvPr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09ED13-89CA-F9E3-13A5-915A770540B4}"/>
              </a:ext>
            </a:extLst>
          </p:cNvPr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06FAC3-BE00-2EC1-5CDD-8C4B438DF8B9}"/>
              </a:ext>
            </a:extLst>
          </p:cNvPr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Model Formulation</a:t>
            </a:r>
            <a:r>
              <a:rPr lang="en-US" dirty="0"/>
              <a:t>: Information Sources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BB09FF-F4FF-51D7-4941-179359208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79573"/>
            <a:ext cx="10769521" cy="1698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856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E28319-5625-E3EE-2A48-97531D18A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FF4DFA-DA85-99BC-55EF-FEB2A8CC601A}"/>
              </a:ext>
            </a:extLst>
          </p:cNvPr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AD1F22-C167-8777-4927-73DAFB83412F}"/>
              </a:ext>
            </a:extLst>
          </p:cNvPr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14A1D-1F64-C613-0E17-4DE3A1442687}"/>
              </a:ext>
            </a:extLst>
          </p:cNvPr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Model Formulation</a:t>
            </a:r>
            <a:r>
              <a:rPr lang="en-US" dirty="0"/>
              <a:t>: Information Sources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1406C8-F3C1-F5D9-FD7B-00AD133F3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458" y="1557916"/>
            <a:ext cx="1912186" cy="7235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48E063-32E1-DEDA-72C8-C3E999CD6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4023" y="2858643"/>
            <a:ext cx="5591055" cy="6494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CD9B0F-E969-BEFC-C706-4AAE9EE1BC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516"/>
          <a:stretch>
            <a:fillRect/>
          </a:stretch>
        </p:blipFill>
        <p:spPr>
          <a:xfrm>
            <a:off x="1683583" y="4417465"/>
            <a:ext cx="4035967" cy="6071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2D126D-2229-F8BB-EDA5-2AFE165F37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644" y="4417465"/>
            <a:ext cx="3319824" cy="54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668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134A5C-DC41-D549-2459-2A7DFDC14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58D9B2-E092-AC40-1219-C57DA43D58B2}"/>
              </a:ext>
            </a:extLst>
          </p:cNvPr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61963A-EF0E-C09B-32A2-8F7F605E7DDE}"/>
              </a:ext>
            </a:extLst>
          </p:cNvPr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224F9E-0312-A1A9-7E4D-188DBF4A1C0C}"/>
              </a:ext>
            </a:extLst>
          </p:cNvPr>
          <p:cNvSpPr txBox="1"/>
          <p:nvPr/>
        </p:nvSpPr>
        <p:spPr>
          <a:xfrm>
            <a:off x="731520" y="36576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Model Formulation</a:t>
            </a:r>
            <a:r>
              <a:rPr lang="en-US" dirty="0"/>
              <a:t>: Trader Belief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10B6CC-8C50-30B0-AFF2-DEEC8697A2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84" t="40559" r="8273" b="23833"/>
          <a:stretch>
            <a:fillRect/>
          </a:stretch>
        </p:blipFill>
        <p:spPr>
          <a:xfrm>
            <a:off x="514951" y="2703985"/>
            <a:ext cx="11162098" cy="145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022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F94DE8-74FA-A7AF-6823-15A66DA46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B68163-327C-73A0-4A40-DA758213C16E}"/>
              </a:ext>
            </a:extLst>
          </p:cNvPr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E3CFE8-68FB-134A-9668-DF582155FA0B}"/>
              </a:ext>
            </a:extLst>
          </p:cNvPr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E7F00B-F10E-43A1-C675-5D1E3ABFC180}"/>
              </a:ext>
            </a:extLst>
          </p:cNvPr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Model Formulation</a:t>
            </a:r>
            <a:r>
              <a:rPr lang="en-US" dirty="0"/>
              <a:t>: Trader Belief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ABD7C9-EA2E-5530-C68C-C94B2E819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728" y="1325880"/>
            <a:ext cx="7772400" cy="50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185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2CC5AA-2C1B-65ED-085D-E0E43D71C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7558BA-7E89-0D0E-6972-A0A4D0C8FF26}"/>
              </a:ext>
            </a:extLst>
          </p:cNvPr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9F27E5-BAFE-6F31-2ED3-2588AA54679D}"/>
              </a:ext>
            </a:extLst>
          </p:cNvPr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F4EDB7-F357-FE32-D122-093A744D3B29}"/>
              </a:ext>
            </a:extLst>
          </p:cNvPr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Model Formulation</a:t>
            </a:r>
            <a:r>
              <a:rPr lang="en-US" dirty="0"/>
              <a:t>: Trader Belief</a:t>
            </a:r>
            <a:endParaRPr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85FAC62-BCE6-74BD-9378-DFED3149D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297" y="1841500"/>
            <a:ext cx="75311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55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341DB3-9E25-DBD1-6B93-5469A1DB3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CE583B-C5CF-FC33-DF0F-019824AEE24C}"/>
              </a:ext>
            </a:extLst>
          </p:cNvPr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EC51F3-6E30-1593-6D14-324EC22AFA1F}"/>
              </a:ext>
            </a:extLst>
          </p:cNvPr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2D6E19-5F89-39DF-50C7-30F0FBA44D71}"/>
              </a:ext>
            </a:extLst>
          </p:cNvPr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Model Formulation</a:t>
            </a:r>
            <a:r>
              <a:rPr lang="en-US" dirty="0"/>
              <a:t>: From Belief to Trade</a:t>
            </a:r>
            <a:endParaRPr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AA17FEC-0597-4304-3FA1-D17DB6242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05" y="2078341"/>
            <a:ext cx="10660684" cy="23306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79D7B47-45DD-63CA-AD94-87EA65117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976" y="5032529"/>
            <a:ext cx="10281741" cy="38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836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C66170-3ADA-3552-649F-EF7A63714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60895C-963A-E252-75A8-0D1A38947BFD}"/>
              </a:ext>
            </a:extLst>
          </p:cNvPr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E1FAC0-1FCF-38F0-8BC6-BA8AB94C5C4F}"/>
              </a:ext>
            </a:extLst>
          </p:cNvPr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C10FA5-9979-BE16-A42A-865A008A6378}"/>
              </a:ext>
            </a:extLst>
          </p:cNvPr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Model Formulation</a:t>
            </a:r>
            <a:r>
              <a:rPr lang="en-US" dirty="0"/>
              <a:t>: From Belief to Trade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233219-536F-3780-5FCD-BBD2A69E1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49" y="2445160"/>
            <a:ext cx="11642102" cy="19676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401AA9-E0D6-DA47-53AA-82BBBA4C0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0" y="4966799"/>
            <a:ext cx="9975500" cy="47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453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2FA09D-2421-8DE9-824B-6A9F3C20D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C8C0C7-E3DF-207B-94D2-3659D54EEB88}"/>
              </a:ext>
            </a:extLst>
          </p:cNvPr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42F125-A248-4F21-38B1-9E8C085A7D10}"/>
              </a:ext>
            </a:extLst>
          </p:cNvPr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27F5DB-0506-2D64-C353-EA5E393F130E}"/>
              </a:ext>
            </a:extLst>
          </p:cNvPr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Model Formulation</a:t>
            </a:r>
            <a:r>
              <a:rPr lang="en-US" dirty="0"/>
              <a:t>: From Belief to Trade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C9BC30-854F-F1C1-0EEB-2047FE31D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814" y="1325880"/>
            <a:ext cx="7474705" cy="4873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886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A77638-F77D-D6B2-7032-3C9CE5F2F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866FCE-88CC-7222-BFA4-3C4B2C8D3D2A}"/>
              </a:ext>
            </a:extLst>
          </p:cNvPr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C078B0-AB20-5E87-81DD-A42DFAB03D9C}"/>
              </a:ext>
            </a:extLst>
          </p:cNvPr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D50BA0-2807-46D5-EDD7-F077CAF404B5}"/>
              </a:ext>
            </a:extLst>
          </p:cNvPr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Model Formulation</a:t>
            </a:r>
            <a:r>
              <a:rPr lang="en-US" dirty="0"/>
              <a:t>: From Belief to Trade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168616-CAE8-3E55-54DE-4CB075B73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38" y="2171633"/>
            <a:ext cx="11742723" cy="247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464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Simulation: Price Convergence</a:t>
            </a:r>
          </a:p>
        </p:txBody>
      </p:sp>
      <p:pic>
        <p:nvPicPr>
          <p:cNvPr id="5" name="Picture 4" descr="plot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77240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686800" y="1188720"/>
            <a:ext cx="3017520" cy="5029200"/>
          </a:xfrm>
          <a:prstGeom prst="rect">
            <a:avLst/>
          </a:prstGeom>
          <a:solidFill>
            <a:srgbClr val="1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0" y="1188720"/>
            <a:ext cx="54864" cy="5029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0" y="1371600"/>
            <a:ext cx="2560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0E696"/>
                </a:solidFill>
                <a:latin typeface="Calibri"/>
              </a:rPr>
              <a:t>Observations</a:t>
            </a:r>
          </a:p>
          <a:p>
            <a:pPr algn="l">
              <a:spcAft>
                <a:spcPts val="200"/>
              </a:spcAft>
            </a:pPr>
            <a:endParaRPr sz="2000" b="1">
              <a:solidFill>
                <a:srgbClr val="00E696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800 discrete time steps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θ = 1 (green dashed line)</a:t>
            </a:r>
          </a:p>
          <a:p>
            <a:pPr algn="l">
              <a:spcAft>
                <a:spcPts val="200"/>
              </a:spcAft>
            </a:pPr>
            <a:endParaRPr sz="1400" b="0">
              <a:solidFill>
                <a:srgbClr val="CADCFC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Three phases:</a:t>
            </a:r>
          </a:p>
          <a:p>
            <a:pPr algn="l">
              <a:spcAft>
                <a:spcPts val="200"/>
              </a:spcAft>
            </a:pPr>
            <a:endParaRPr sz="1600" b="1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ADCFC"/>
                </a:solidFill>
                <a:latin typeface="Calibri"/>
              </a:rPr>
              <a:t>1. Seeding — sparse trades, volatile price</a:t>
            </a:r>
          </a:p>
          <a:p>
            <a:pPr algn="l">
              <a:spcAft>
                <a:spcPts val="200"/>
              </a:spcAft>
            </a:pPr>
            <a:endParaRPr sz="1300" b="0">
              <a:solidFill>
                <a:srgbClr val="CADCFC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ADCFC"/>
                </a:solidFill>
                <a:latin typeface="Calibri"/>
              </a:rPr>
              <a:t>2. Discovery — active trading, oscillation around truth</a:t>
            </a:r>
          </a:p>
          <a:p>
            <a:pPr algn="l">
              <a:spcAft>
                <a:spcPts val="200"/>
              </a:spcAft>
            </a:pPr>
            <a:endParaRPr sz="1300" b="0">
              <a:solidFill>
                <a:srgbClr val="CADCFC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ADCFC"/>
                </a:solidFill>
                <a:latin typeface="Calibri"/>
              </a:rPr>
              <a:t>3. Consensus — beliefs and price stabilize near θ</a:t>
            </a:r>
          </a:p>
          <a:p>
            <a:pPr algn="l">
              <a:spcAft>
                <a:spcPts val="200"/>
              </a:spcAft>
            </a:pPr>
            <a:endParaRPr sz="1300" b="0">
              <a:solidFill>
                <a:srgbClr val="CADCFC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0A4BF"/>
                </a:solidFill>
                <a:latin typeface="Calibri"/>
              </a:rPr>
              <a:t>π(t) (cyan) tracks the belief centroid and converges to 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DeGroot Dynamics &amp; Peer Influence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120640" cy="5029200"/>
          </a:xfrm>
          <a:prstGeom prst="rect">
            <a:avLst/>
          </a:prstGeom>
          <a:solidFill>
            <a:srgbClr val="1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54864" cy="5029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4572000" cy="4262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 dirty="0">
                <a:solidFill>
                  <a:srgbClr val="00B4D8"/>
                </a:solidFill>
                <a:latin typeface="Calibri"/>
              </a:rPr>
              <a:t>The DeGroot Connection</a:t>
            </a:r>
          </a:p>
          <a:p>
            <a:pPr algn="l">
              <a:spcAft>
                <a:spcPts val="300"/>
              </a:spcAft>
            </a:pPr>
            <a:endParaRPr sz="2000" b="1" dirty="0">
              <a:solidFill>
                <a:srgbClr val="00B4D8"/>
              </a:solidFill>
              <a:latin typeface="Calibri"/>
            </a:endParaRPr>
          </a:p>
          <a:p>
            <a:pPr algn="l">
              <a:spcAft>
                <a:spcPts val="300"/>
              </a:spcAft>
            </a:pPr>
            <a:r>
              <a:rPr sz="1500" b="0" dirty="0">
                <a:solidFill>
                  <a:srgbClr val="CADCFC"/>
                </a:solidFill>
                <a:latin typeface="Calibri"/>
              </a:rPr>
              <a:t>In log-odds coordinates, the belief update becomes exactly linear — a DeGroot model:</a:t>
            </a:r>
            <a:endParaRPr lang="en-US" sz="1500" dirty="0">
              <a:solidFill>
                <a:srgbClr val="CADCFC"/>
              </a:solidFill>
              <a:latin typeface="Calibri"/>
            </a:endParaRPr>
          </a:p>
          <a:p>
            <a:pPr algn="l">
              <a:spcAft>
                <a:spcPts val="300"/>
              </a:spcAft>
            </a:pPr>
            <a:endParaRPr sz="1600" b="0" dirty="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300"/>
              </a:spcAft>
            </a:pPr>
            <a:r>
              <a:rPr sz="1500" b="0" dirty="0">
                <a:solidFill>
                  <a:srgbClr val="CADCFC"/>
                </a:solidFill>
                <a:latin typeface="Calibri"/>
              </a:rPr>
              <a:t>D(t) is the peer-influence matrix — it grows as traders enter the market.</a:t>
            </a:r>
          </a:p>
          <a:p>
            <a:pPr algn="l">
              <a:spcAft>
                <a:spcPts val="300"/>
              </a:spcAft>
            </a:pPr>
            <a:endParaRPr sz="1500" b="0" dirty="0">
              <a:solidFill>
                <a:srgbClr val="CADCFC"/>
              </a:solidFill>
              <a:latin typeface="Calibri"/>
            </a:endParaRPr>
          </a:p>
          <a:p>
            <a:pPr algn="l">
              <a:spcAft>
                <a:spcPts val="300"/>
              </a:spcAft>
            </a:pPr>
            <a:r>
              <a:rPr sz="2000" b="1" dirty="0">
                <a:solidFill>
                  <a:srgbClr val="00B4D8"/>
                </a:solidFill>
                <a:latin typeface="Calibri"/>
              </a:rPr>
              <a:t>Time-Varying Topology</a:t>
            </a:r>
          </a:p>
          <a:p>
            <a:pPr algn="l">
              <a:spcAft>
                <a:spcPts val="300"/>
              </a:spcAft>
            </a:pPr>
            <a:endParaRPr sz="2000" b="1" dirty="0">
              <a:solidFill>
                <a:srgbClr val="00B4D8"/>
              </a:solidFill>
              <a:latin typeface="Calibri"/>
            </a:endParaRPr>
          </a:p>
          <a:p>
            <a:pPr algn="l">
              <a:spcAft>
                <a:spcPts val="300"/>
              </a:spcAft>
            </a:pPr>
            <a:r>
              <a:rPr sz="1500" b="0" dirty="0">
                <a:solidFill>
                  <a:srgbClr val="CADCFC"/>
                </a:solidFill>
                <a:latin typeface="Calibri"/>
              </a:rPr>
              <a:t>D(t) starts nearly diagonal (self-weights only). As traders trade, off-diagonal entries grow — reflecting implicit influence through the price channel.</a:t>
            </a:r>
          </a:p>
          <a:p>
            <a:pPr algn="l">
              <a:spcAft>
                <a:spcPts val="300"/>
              </a:spcAft>
            </a:pPr>
            <a:endParaRPr sz="1500" b="0" dirty="0">
              <a:solidFill>
                <a:srgbClr val="CADCFC"/>
              </a:solidFill>
              <a:latin typeface="Calibri"/>
            </a:endParaRPr>
          </a:p>
          <a:p>
            <a:pPr algn="l">
              <a:spcAft>
                <a:spcPts val="300"/>
              </a:spcAft>
            </a:pPr>
            <a:r>
              <a:rPr sz="1500" b="0" dirty="0">
                <a:solidFill>
                  <a:srgbClr val="90A4BF"/>
                </a:solidFill>
                <a:latin typeface="Calibri"/>
              </a:rPr>
              <a:t>Convergence speed → spectral radius </a:t>
            </a:r>
            <a:r>
              <a:rPr sz="1500" b="0" dirty="0" err="1">
                <a:solidFill>
                  <a:srgbClr val="90A4BF"/>
                </a:solidFill>
                <a:latin typeface="Calibri"/>
              </a:rPr>
              <a:t>ρ</a:t>
            </a:r>
            <a:r>
              <a:rPr sz="1500" b="0" dirty="0">
                <a:solidFill>
                  <a:srgbClr val="90A4BF"/>
                </a:solidFill>
                <a:latin typeface="Calibri"/>
              </a:rPr>
              <a:t>(D)</a:t>
            </a:r>
          </a:p>
        </p:txBody>
      </p:sp>
      <p:pic>
        <p:nvPicPr>
          <p:cNvPr id="8" name="Picture 7" descr="plot_peer_infl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3035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3291840" cy="4389120"/>
          </a:xfrm>
          <a:prstGeom prst="rect">
            <a:avLst/>
          </a:prstGeom>
          <a:solidFill>
            <a:srgbClr val="1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329184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26517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0B4D8"/>
                </a:solidFill>
                <a:latin typeface="Calibri"/>
              </a:rPr>
              <a:t>Market as Filter</a:t>
            </a:r>
          </a:p>
          <a:p>
            <a:pPr algn="l">
              <a:spcAft>
                <a:spcPts val="400"/>
              </a:spcAft>
            </a:pPr>
            <a:endParaRPr sz="2200" b="1">
              <a:solidFill>
                <a:srgbClr val="00B4D8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The prediction market acts as a nonlinear recursive filter — aggregating noisy, biased signals into a consensus estimate of the hidden state θ.</a:t>
            </a:r>
          </a:p>
          <a:p>
            <a:pPr algn="l">
              <a:spcAft>
                <a:spcPts val="400"/>
              </a:spcAft>
            </a:pPr>
            <a:endParaRPr sz="1500" b="0">
              <a:solidFill>
                <a:srgbClr val="CADCFC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0A4BF"/>
                </a:solidFill>
                <a:latin typeface="Calibri"/>
              </a:rPr>
              <a:t>Connects information theory to market microstructure.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280160"/>
            <a:ext cx="3291840" cy="4389120"/>
          </a:xfrm>
          <a:prstGeom prst="rect">
            <a:avLst/>
          </a:prstGeom>
          <a:solidFill>
            <a:srgbClr val="1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280160"/>
            <a:ext cx="3291840" cy="4572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600200"/>
            <a:ext cx="26517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0E696"/>
                </a:solidFill>
                <a:latin typeface="Calibri"/>
              </a:rPr>
              <a:t>Implicit Communication</a:t>
            </a:r>
          </a:p>
          <a:p>
            <a:pPr algn="l">
              <a:spcAft>
                <a:spcPts val="400"/>
              </a:spcAft>
            </a:pPr>
            <a:endParaRPr sz="2200" b="1">
              <a:solidFill>
                <a:srgbClr val="00E696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Traders never communicate directly. Yet the market price creates causal peer-to-peer influence — captured by the growing matrix D(t).</a:t>
            </a:r>
          </a:p>
          <a:p>
            <a:pPr algn="l">
              <a:spcAft>
                <a:spcPts val="400"/>
              </a:spcAft>
            </a:pPr>
            <a:endParaRPr sz="1500" b="0">
              <a:solidFill>
                <a:srgbClr val="CADCFC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0A4BF"/>
                </a:solidFill>
                <a:latin typeface="Calibri"/>
              </a:rPr>
              <a:t>Price is the communication channel in this network.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280160"/>
            <a:ext cx="3291840" cy="4389120"/>
          </a:xfrm>
          <a:prstGeom prst="rect">
            <a:avLst/>
          </a:prstGeom>
          <a:solidFill>
            <a:srgbClr val="1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38160" y="1280160"/>
            <a:ext cx="3291840" cy="45720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1600200"/>
            <a:ext cx="26517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9E795"/>
                </a:solidFill>
                <a:latin typeface="Calibri"/>
              </a:rPr>
              <a:t>Spectral Convergence</a:t>
            </a:r>
          </a:p>
          <a:p>
            <a:pPr algn="l">
              <a:spcAft>
                <a:spcPts val="400"/>
              </a:spcAft>
            </a:pPr>
            <a:endParaRPr sz="2200" b="1">
              <a:solidFill>
                <a:srgbClr val="F9E795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Convergence rate depends on spectral radius ρ(D). Information diversity (rank of Φ) determines whether consensus lands near θ or a biased value.</a:t>
            </a:r>
          </a:p>
          <a:p>
            <a:pPr algn="l">
              <a:spcAft>
                <a:spcPts val="400"/>
              </a:spcAft>
            </a:pPr>
            <a:endParaRPr sz="1500" b="0">
              <a:solidFill>
                <a:srgbClr val="CADCFC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0A4BF"/>
                </a:solidFill>
                <a:latin typeface="Calibri"/>
              </a:rPr>
              <a:t>Classic DeGroot theory applies in log-odds coordinates.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ADCFC"/>
                </a:solidFill>
                <a:latin typeface="Calibri"/>
              </a:defRPr>
            </a:pPr>
            <a:r>
              <a:t>Thank you  ·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975</TotalTime>
  <Words>513</Words>
  <Application>Microsoft Macintosh PowerPoint</Application>
  <PresentationFormat>Widescreen</PresentationFormat>
  <Paragraphs>83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Matteo Perona</cp:lastModifiedBy>
  <cp:revision>2</cp:revision>
  <dcterms:created xsi:type="dcterms:W3CDTF">2013-01-27T09:14:16Z</dcterms:created>
  <dcterms:modified xsi:type="dcterms:W3CDTF">2026-04-29T14:10:43Z</dcterms:modified>
  <cp:category/>
</cp:coreProperties>
</file>